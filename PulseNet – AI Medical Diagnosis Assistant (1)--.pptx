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6"/>
  </p:notesMasterIdLst>
  <p:sldIdLst>
    <p:sldId id="266" r:id="rId5"/>
    <p:sldId id="267" r:id="rId6"/>
    <p:sldId id="268" r:id="rId7"/>
    <p:sldId id="269" r:id="rId8"/>
    <p:sldId id="270" r:id="rId9"/>
    <p:sldId id="271" r:id="rId10"/>
    <p:sldId id="272" r:id="rId11"/>
    <p:sldId id="277" r:id="rId12"/>
    <p:sldId id="278" r:id="rId13"/>
    <p:sldId id="279"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182A2A-89F8-4FC0-A135-FCB46BFF2DF4}" type="datetimeFigureOut">
              <a:rPr lang="en-IN" smtClean="0"/>
              <a:t>27-12-2025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907E5-3FDE-4891-A71B-267E4BB4ACBD}" type="slidenum">
              <a:rPr lang="en-IN" smtClean="0"/>
              <a:t>‹#›</a:t>
            </a:fld>
            <a:endParaRPr lang="en-IN"/>
          </a:p>
        </p:txBody>
      </p:sp>
    </p:spTree>
    <p:extLst>
      <p:ext uri="{BB962C8B-B14F-4D97-AF65-F5344CB8AC3E}">
        <p14:creationId xmlns:p14="http://schemas.microsoft.com/office/powerpoint/2010/main" val="83464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77907E5-3FDE-4891-A71B-267E4BB4ACBD}" type="slidenum">
              <a:rPr lang="en-IN" smtClean="0"/>
              <a:t>10</a:t>
            </a:fld>
            <a:endParaRPr lang="en-IN"/>
          </a:p>
        </p:txBody>
      </p:sp>
    </p:spTree>
    <p:extLst>
      <p:ext uri="{BB962C8B-B14F-4D97-AF65-F5344CB8AC3E}">
        <p14:creationId xmlns:p14="http://schemas.microsoft.com/office/powerpoint/2010/main" val="4283923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12/27/2025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12/27/2025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12/27/2025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12/27/2025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12/27/2025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12/27/2025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12/27/2025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12/27/2025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12/27/2025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12/27/2025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ulsenetai.vercel.app/"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it-IT" sz="6000" dirty="0">
                <a:latin typeface="Times New Roman" panose="02020603050405020304" pitchFamily="18" charset="0"/>
                <a:cs typeface="Times New Roman" panose="02020603050405020304" pitchFamily="18" charset="0"/>
              </a:rPr>
              <a:t>PulseNet – AI Medical Diagnosis Assistant</a:t>
            </a:r>
            <a:endParaRPr lang="en-US" sz="6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954704"/>
          </a:xfrm>
        </p:spPr>
        <p:txBody>
          <a:bodyPr>
            <a:normAutofit/>
          </a:bodyPr>
          <a:lstStyle/>
          <a:p>
            <a:r>
              <a:rPr lang="en-US" dirty="0">
                <a:latin typeface="Times New Roman" panose="02020603050405020304" pitchFamily="18" charset="0"/>
                <a:cs typeface="Times New Roman" panose="02020603050405020304" pitchFamily="18" charset="0"/>
              </a:rPr>
              <a:t>PRAVEEN KUMAR V</a:t>
            </a:r>
          </a:p>
          <a:p>
            <a:r>
              <a:rPr lang="en-US" dirty="0">
                <a:latin typeface="Times New Roman" panose="02020603050405020304" pitchFamily="18" charset="0"/>
                <a:cs typeface="Times New Roman" panose="02020603050405020304" pitchFamily="18" charset="0"/>
              </a:rPr>
              <a:t>NITHIN R</a:t>
            </a:r>
          </a:p>
          <a:p>
            <a:r>
              <a:rPr lang="en-US" dirty="0">
                <a:latin typeface="Times New Roman" panose="02020603050405020304" pitchFamily="18" charset="0"/>
                <a:cs typeface="Times New Roman" panose="02020603050405020304" pitchFamily="18" charset="0"/>
              </a:rPr>
              <a:t>SANJANA KUMARI S</a:t>
            </a: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19958-97DB-41D7-C0A3-9651FFC84886}"/>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21E4A4F9-8FE8-1B24-39CA-8583EAB49777}"/>
              </a:ext>
            </a:extLst>
          </p:cNvPr>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Slide 2: Problem Statement</a:t>
            </a:r>
          </a:p>
          <a:p>
            <a:r>
              <a:rPr lang="en-US" dirty="0">
                <a:latin typeface="Times New Roman" panose="02020603050405020304" pitchFamily="18" charset="0"/>
                <a:cs typeface="Times New Roman" panose="02020603050405020304" pitchFamily="18" charset="0"/>
              </a:rPr>
              <a:t>This project builds a GenAI-powered medical diagnosis assistant for rural health centers and primary clinics in India. It helps doctors and health workers quickly understand patient problems by analyzing symptoms, past medical history, and basic vital signs. The system gives possible diseases with confidence scores, suggests basic treatment steps, warns about drug interactions, and clearly tells when a specialist referral is needed. It supports Indian languages like Hindi, Tamil, Telugu, and Bengali, and explains results in simple words for both doctors and patients. The platform works even with low internet, follows Indian healthcare guidelines, protects patient privacy, and continuously learns from common rural health cases to improve over time.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213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2293-4ACE-F82B-4442-915AC9A0DCE9}"/>
              </a:ext>
            </a:extLst>
          </p:cNvPr>
          <p:cNvSpPr>
            <a:spLocks noGrp="1"/>
          </p:cNvSpPr>
          <p:nvPr>
            <p:ph type="title"/>
          </p:nvPr>
        </p:nvSpPr>
        <p:spPr>
          <a:xfrm>
            <a:off x="1066800" y="371268"/>
            <a:ext cx="10058400" cy="1349573"/>
          </a:xfrm>
        </p:spPr>
        <p:txBody>
          <a:bodyPr/>
          <a:lstStyle/>
          <a:p>
            <a:r>
              <a:rPr lang="en-IN" dirty="0"/>
              <a:t>                           </a:t>
            </a:r>
            <a:r>
              <a:rPr lang="en-IN" sz="4000" b="1" dirty="0">
                <a:latin typeface="Times New Roman" panose="02020603050405020304" pitchFamily="18" charset="0"/>
                <a:cs typeface="Times New Roman" panose="02020603050405020304" pitchFamily="18" charset="0"/>
              </a:rPr>
              <a:t>OUR SOLUTION</a:t>
            </a:r>
          </a:p>
        </p:txBody>
      </p:sp>
      <p:sp>
        <p:nvSpPr>
          <p:cNvPr id="4" name="Rectangle 1">
            <a:extLst>
              <a:ext uri="{FF2B5EF4-FFF2-40B4-BE49-F238E27FC236}">
                <a16:creationId xmlns:a16="http://schemas.microsoft.com/office/drawing/2014/main" id="{30A59265-E1A7-726B-9AB7-026F68EC5DC1}"/>
              </a:ext>
            </a:extLst>
          </p:cNvPr>
          <p:cNvSpPr>
            <a:spLocks noGrp="1" noChangeArrowheads="1"/>
          </p:cNvSpPr>
          <p:nvPr>
            <p:ph idx="1"/>
          </p:nvPr>
        </p:nvSpPr>
        <p:spPr bwMode="auto">
          <a:xfrm>
            <a:off x="1097280" y="1720841"/>
            <a:ext cx="1022265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diagnosis assistant that helps frontline health workers make informed decisions.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Accepts symptom input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Indian languages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(Hindi, Tamil, Telugu, Bengali) for wider accessibility.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differential diagnoses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confidence scores to guide next steps.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treatment guidance and drug dosage recommendations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patient demographics.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Issues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referral alerts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cases that require specialist attention or emergency care.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user-friendly UI designed for low-literacy and low-connectivity environments.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results in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easy-to-understand language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both health workers and patients.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8714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A2ECA-5899-F931-8F74-63C47C99F0E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E6E8811F-774A-2052-BD47-046BBC205A2C}"/>
              </a:ext>
            </a:extLst>
          </p:cNvPr>
          <p:cNvPicPr>
            <a:picLocks noGrp="1" noChangeAspect="1"/>
          </p:cNvPicPr>
          <p:nvPr>
            <p:ph idx="1"/>
          </p:nvPr>
        </p:nvPicPr>
        <p:blipFill>
          <a:blip r:embed="rId2"/>
          <a:stretch>
            <a:fillRect/>
          </a:stretch>
        </p:blipFill>
        <p:spPr>
          <a:xfrm>
            <a:off x="1241659" y="2108200"/>
            <a:ext cx="9750392" cy="3760788"/>
          </a:xfrm>
        </p:spPr>
      </p:pic>
    </p:spTree>
    <p:extLst>
      <p:ext uri="{BB962C8B-B14F-4D97-AF65-F5344CB8AC3E}">
        <p14:creationId xmlns:p14="http://schemas.microsoft.com/office/powerpoint/2010/main" val="302158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03FAF-C550-2686-BAE6-53C4819ABDDC}"/>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TECH STACK</a:t>
            </a:r>
          </a:p>
        </p:txBody>
      </p:sp>
      <p:pic>
        <p:nvPicPr>
          <p:cNvPr id="10" name="Content Placeholder 9">
            <a:extLst>
              <a:ext uri="{FF2B5EF4-FFF2-40B4-BE49-F238E27FC236}">
                <a16:creationId xmlns:a16="http://schemas.microsoft.com/office/drawing/2014/main" id="{4744546F-032E-0C48-3838-8989533EBB82}"/>
              </a:ext>
            </a:extLst>
          </p:cNvPr>
          <p:cNvPicPr>
            <a:picLocks noGrp="1" noChangeAspect="1"/>
          </p:cNvPicPr>
          <p:nvPr>
            <p:ph sz="half" idx="2"/>
          </p:nvPr>
        </p:nvPicPr>
        <p:blipFill>
          <a:blip r:embed="rId2"/>
          <a:stretch>
            <a:fillRect/>
          </a:stretch>
        </p:blipFill>
        <p:spPr>
          <a:xfrm>
            <a:off x="4026569" y="3178354"/>
            <a:ext cx="2614863" cy="2363775"/>
          </a:xfrm>
        </p:spPr>
      </p:pic>
      <p:pic>
        <p:nvPicPr>
          <p:cNvPr id="8" name="Content Placeholder 7">
            <a:extLst>
              <a:ext uri="{FF2B5EF4-FFF2-40B4-BE49-F238E27FC236}">
                <a16:creationId xmlns:a16="http://schemas.microsoft.com/office/drawing/2014/main" id="{E00BEF38-279A-E737-2491-D64BFF484193}"/>
              </a:ext>
            </a:extLst>
          </p:cNvPr>
          <p:cNvPicPr>
            <a:picLocks noGrp="1" noChangeAspect="1"/>
          </p:cNvPicPr>
          <p:nvPr>
            <p:ph sz="half" idx="1"/>
          </p:nvPr>
        </p:nvPicPr>
        <p:blipFill>
          <a:blip r:embed="rId3"/>
          <a:stretch>
            <a:fillRect/>
          </a:stretch>
        </p:blipFill>
        <p:spPr>
          <a:xfrm>
            <a:off x="1010653" y="2381478"/>
            <a:ext cx="2271562" cy="2363775"/>
          </a:xfrm>
        </p:spPr>
      </p:pic>
      <p:pic>
        <p:nvPicPr>
          <p:cNvPr id="3081" name="Picture 9" descr="Google Gemini">
            <a:extLst>
              <a:ext uri="{FF2B5EF4-FFF2-40B4-BE49-F238E27FC236}">
                <a16:creationId xmlns:a16="http://schemas.microsoft.com/office/drawing/2014/main" id="{AA6569F8-C0D3-1E32-1720-43E097686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7299" y="2379846"/>
            <a:ext cx="2348564" cy="24520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at is MongoDB? NoSQL database ...">
            <a:extLst>
              <a:ext uri="{FF2B5EF4-FFF2-40B4-BE49-F238E27FC236}">
                <a16:creationId xmlns:a16="http://schemas.microsoft.com/office/drawing/2014/main" id="{7A78865C-4B64-E8A5-6BD4-D706DE06AA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19463" y="3429000"/>
            <a:ext cx="1544764" cy="2070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222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D85A-BEED-D210-6BE6-67E227ABDC8A}"/>
              </a:ext>
            </a:extLst>
          </p:cNvPr>
          <p:cNvSpPr>
            <a:spLocks noGrp="1"/>
          </p:cNvSpPr>
          <p:nvPr>
            <p:ph type="title"/>
          </p:nvPr>
        </p:nvSpPr>
        <p:spPr/>
        <p:txBody>
          <a:bodyPr>
            <a:normAutofit/>
          </a:bodyPr>
          <a:lstStyle/>
          <a:p>
            <a:pPr algn="ctr"/>
            <a:r>
              <a:rPr lang="en-IN" sz="4000" b="1" dirty="0"/>
              <a:t>            </a:t>
            </a:r>
            <a:r>
              <a:rPr lang="en-IN" sz="4000" b="1" dirty="0">
                <a:latin typeface="Times New Roman" panose="02020603050405020304" pitchFamily="18" charset="0"/>
                <a:cs typeface="Times New Roman" panose="02020603050405020304" pitchFamily="18" charset="0"/>
              </a:rPr>
              <a:t>PROPOSED METHODOLOGY</a:t>
            </a:r>
          </a:p>
        </p:txBody>
      </p:sp>
      <p:pic>
        <p:nvPicPr>
          <p:cNvPr id="7" name="Content Placeholder 6">
            <a:extLst>
              <a:ext uri="{FF2B5EF4-FFF2-40B4-BE49-F238E27FC236}">
                <a16:creationId xmlns:a16="http://schemas.microsoft.com/office/drawing/2014/main" id="{7DEC9FA4-8D40-7A32-EB1C-E17BE73AF331}"/>
              </a:ext>
            </a:extLst>
          </p:cNvPr>
          <p:cNvPicPr>
            <a:picLocks noGrp="1" noChangeAspect="1"/>
          </p:cNvPicPr>
          <p:nvPr>
            <p:ph idx="1"/>
          </p:nvPr>
        </p:nvPicPr>
        <p:blipFill>
          <a:blip r:embed="rId2"/>
          <a:stretch>
            <a:fillRect/>
          </a:stretch>
        </p:blipFill>
        <p:spPr>
          <a:xfrm>
            <a:off x="4096512" y="2108199"/>
            <a:ext cx="3831336" cy="4156775"/>
          </a:xfrm>
        </p:spPr>
      </p:pic>
    </p:spTree>
    <p:extLst>
      <p:ext uri="{BB962C8B-B14F-4D97-AF65-F5344CB8AC3E}">
        <p14:creationId xmlns:p14="http://schemas.microsoft.com/office/powerpoint/2010/main" val="3140044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9073-C951-4484-53B6-A477E89F9EFC}"/>
              </a:ext>
            </a:extLst>
          </p:cNvPr>
          <p:cNvSpPr>
            <a:spLocks noGrp="1"/>
          </p:cNvSpPr>
          <p:nvPr>
            <p:ph type="title"/>
          </p:nvPr>
        </p:nvSpPr>
        <p:spPr>
          <a:xfrm>
            <a:off x="996696" y="414619"/>
            <a:ext cx="10058400" cy="1450757"/>
          </a:xfrm>
        </p:spPr>
        <p:txBody>
          <a:bodyPr/>
          <a:lstStyle/>
          <a:p>
            <a:r>
              <a:rPr lang="en-IN" b="1" dirty="0"/>
              <a:t>                 </a:t>
            </a:r>
            <a:r>
              <a:rPr lang="en-IN" b="1" dirty="0">
                <a:latin typeface="Times New Roman" panose="02020603050405020304" pitchFamily="18" charset="0"/>
                <a:cs typeface="Times New Roman" panose="02020603050405020304" pitchFamily="18" charset="0"/>
              </a:rPr>
              <a:t>MODULAR DESCRIPTION</a:t>
            </a:r>
          </a:p>
        </p:txBody>
      </p:sp>
      <p:sp>
        <p:nvSpPr>
          <p:cNvPr id="3" name="Content Placeholder 2">
            <a:extLst>
              <a:ext uri="{FF2B5EF4-FFF2-40B4-BE49-F238E27FC236}">
                <a16:creationId xmlns:a16="http://schemas.microsoft.com/office/drawing/2014/main" id="{82322062-D3C9-ED12-D136-C10218F27BDE}"/>
              </a:ext>
            </a:extLst>
          </p:cNvPr>
          <p:cNvSpPr>
            <a:spLocks noGrp="1"/>
          </p:cNvSpPr>
          <p:nvPr>
            <p:ph idx="1"/>
          </p:nvPr>
        </p:nvSpPr>
        <p:spPr>
          <a:xfrm>
            <a:off x="1097280" y="2228850"/>
            <a:ext cx="10818496" cy="4048125"/>
          </a:xfrm>
        </p:spPr>
        <p:txBody>
          <a:bodyPr>
            <a:normAutofit fontScale="25000" lnSpcReduction="20000"/>
          </a:bodyPr>
          <a:lstStyle/>
          <a:p>
            <a:r>
              <a:rPr lang="en-US" sz="6000" b="1" dirty="0">
                <a:latin typeface="Times New Roman" panose="02020603050405020304" pitchFamily="18" charset="0"/>
                <a:ea typeface="Tahoma" panose="020B0604030504040204" pitchFamily="34" charset="0"/>
                <a:cs typeface="Times New Roman" panose="02020603050405020304" pitchFamily="18" charset="0"/>
              </a:rPr>
              <a:t>1️⃣ Symptom Analysis Module</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The Symptom Analysis Module is the core entry point of the </a:t>
            </a:r>
            <a:r>
              <a:rPr lang="en-US" sz="6800" dirty="0" err="1">
                <a:latin typeface="Times New Roman" panose="02020603050405020304" pitchFamily="18" charset="0"/>
                <a:ea typeface="Tahoma" panose="020B0604030504040204" pitchFamily="34" charset="0"/>
                <a:cs typeface="Times New Roman" panose="02020603050405020304" pitchFamily="18" charset="0"/>
              </a:rPr>
              <a:t>PulseNet</a:t>
            </a:r>
            <a:r>
              <a:rPr lang="en-US" sz="6800" dirty="0">
                <a:latin typeface="Times New Roman" panose="02020603050405020304" pitchFamily="18" charset="0"/>
                <a:ea typeface="Tahoma" panose="020B0604030504040204" pitchFamily="34" charset="0"/>
                <a:cs typeface="Times New Roman" panose="02020603050405020304" pitchFamily="18" charset="0"/>
              </a:rPr>
              <a:t> system. It enables healthcare workers in rural clinics to input patient information easily and accurately, even in low-resource environments.</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Allows entry of patient symptoms, basic vital signs (temperature, blood pressure, pulse rate), and medical history.</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Supports multilingual input in Indian languages such as Hindi, Tamil, Telugu, and Bengali to overcome language barriers.</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Uses language detection and translation techniques to convert local language inputs into a standard medical format.</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Processes structured and unstructured symptom data for better understanding.</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Integrates with the AI diagnosis engine (Gemini) to identify possible diseases.</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Generates multiple possible diagnoses along with confidence scores.</a:t>
            </a:r>
          </a:p>
          <a:p>
            <a:pPr>
              <a:buFont typeface="Wingdings" panose="05000000000000000000" pitchFamily="2" charset="2"/>
              <a:buChar char="§"/>
            </a:pPr>
            <a:r>
              <a:rPr lang="en-US" sz="6800" dirty="0">
                <a:latin typeface="Times New Roman" panose="02020603050405020304" pitchFamily="18" charset="0"/>
                <a:ea typeface="Tahoma" panose="020B0604030504040204" pitchFamily="34" charset="0"/>
                <a:cs typeface="Times New Roman" panose="02020603050405020304" pitchFamily="18" charset="0"/>
              </a:rPr>
              <a:t>Helps frontline health workers make quick and informed decisions.</a:t>
            </a:r>
          </a:p>
          <a:p>
            <a:endParaRPr lang="en-IN" dirty="0"/>
          </a:p>
        </p:txBody>
      </p:sp>
    </p:spTree>
    <p:extLst>
      <p:ext uri="{BB962C8B-B14F-4D97-AF65-F5344CB8AC3E}">
        <p14:creationId xmlns:p14="http://schemas.microsoft.com/office/powerpoint/2010/main" val="3570455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52A5-B81D-2B84-AC61-751675434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90D01-D488-521A-D5C8-CCF9BA327230}"/>
              </a:ext>
            </a:extLst>
          </p:cNvPr>
          <p:cNvSpPr>
            <a:spLocks noGrp="1"/>
          </p:cNvSpPr>
          <p:nvPr>
            <p:ph type="title"/>
          </p:nvPr>
        </p:nvSpPr>
        <p:spPr>
          <a:xfrm>
            <a:off x="996696" y="414619"/>
            <a:ext cx="10058400" cy="1450757"/>
          </a:xfrm>
        </p:spPr>
        <p:txBody>
          <a:bodyPr/>
          <a:lstStyle/>
          <a:p>
            <a:pPr algn="ctr"/>
            <a:r>
              <a:rPr lang="en-IN" sz="4000" b="1" dirty="0"/>
              <a:t> </a:t>
            </a:r>
            <a:r>
              <a:rPr lang="en-IN" sz="4000" b="1" dirty="0">
                <a:latin typeface="Times New Roman" panose="02020603050405020304" pitchFamily="18" charset="0"/>
                <a:cs typeface="Times New Roman" panose="02020603050405020304" pitchFamily="18" charset="0"/>
              </a:rPr>
              <a:t>MODULAR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464314-E9CF-5135-B394-03EF17600A4C}"/>
              </a:ext>
            </a:extLst>
          </p:cNvPr>
          <p:cNvSpPr>
            <a:spLocks noGrp="1"/>
          </p:cNvSpPr>
          <p:nvPr>
            <p:ph idx="1"/>
          </p:nvPr>
        </p:nvSpPr>
        <p:spPr>
          <a:xfrm>
            <a:off x="996696" y="1991106"/>
            <a:ext cx="10818496" cy="4048125"/>
          </a:xfrm>
        </p:spPr>
        <p:txBody>
          <a:bodyPr>
            <a:normAutofit fontScale="25000" lnSpcReduction="20000"/>
          </a:bodyPr>
          <a:lstStyle/>
          <a:p>
            <a:r>
              <a:rPr lang="en-US" sz="6000" b="1" dirty="0">
                <a:latin typeface="Times New Roman" panose="02020603050405020304" pitchFamily="18" charset="0"/>
                <a:ea typeface="Tahoma" panose="020B0604030504040204" pitchFamily="34" charset="0"/>
                <a:cs typeface="Times New Roman" panose="02020603050405020304" pitchFamily="18" charset="0"/>
              </a:rPr>
              <a:t>2 </a:t>
            </a:r>
            <a:r>
              <a:rPr lang="en-US" sz="4800" b="1" dirty="0">
                <a:latin typeface="Times New Roman" panose="02020603050405020304" pitchFamily="18" charset="0"/>
                <a:ea typeface="Tahoma" panose="020B0604030504040204" pitchFamily="34" charset="0"/>
                <a:cs typeface="Times New Roman" panose="02020603050405020304" pitchFamily="18" charset="0"/>
              </a:rPr>
              <a:t> </a:t>
            </a:r>
            <a:r>
              <a:rPr lang="en-US" sz="6000" b="1" dirty="0">
                <a:latin typeface="Times New Roman" panose="02020603050405020304" pitchFamily="18" charset="0"/>
                <a:ea typeface="Tahoma" panose="020B0604030504040204" pitchFamily="34" charset="0"/>
                <a:cs typeface="Times New Roman" panose="02020603050405020304" pitchFamily="18" charset="0"/>
              </a:rPr>
              <a:t>DRUG INTERACTION MODULE</a:t>
            </a:r>
          </a:p>
          <a:p>
            <a:r>
              <a:rPr lang="en-US" sz="7200" dirty="0">
                <a:latin typeface="Times New Roman" panose="02020603050405020304" pitchFamily="18" charset="0"/>
                <a:ea typeface="Tahoma" panose="020B0604030504040204" pitchFamily="34" charset="0"/>
                <a:cs typeface="Times New Roman" panose="02020603050405020304" pitchFamily="18" charset="0"/>
              </a:rPr>
              <a:t>The Drug Interaction Module ensures patient safety by validating prescribed medicines and preventing harmful drug combinations.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Checks compatibility between prescribed drugs using predefined medical safety rules.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Detects potential drug–drug interactions that may cause adverse reactions.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Alerts healthcare workers about unsafe or conflicting medications.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Ensures that medications follow standard treatment protocols.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Helps avoid medication errors commonly caused by lack of expert supervision.</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Enhances treatment accuracy and reduces health risks.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Operates fully offline using locally stored interaction rules.</a:t>
            </a:r>
          </a:p>
          <a:p>
            <a:pPr>
              <a:buFont typeface="Arial" panose="020B0604020202020204" pitchFamily="34" charset="0"/>
              <a:buChar char="•"/>
            </a:pPr>
            <a:r>
              <a:rPr lang="en-US" sz="7200" dirty="0">
                <a:latin typeface="Times New Roman" panose="02020603050405020304" pitchFamily="18" charset="0"/>
                <a:ea typeface="Tahoma" panose="020B0604030504040204" pitchFamily="34" charset="0"/>
                <a:cs typeface="Times New Roman" panose="02020603050405020304" pitchFamily="18" charset="0"/>
              </a:rPr>
              <a:t>Improves trust and reliability of AI-assisted treatment recommendations.</a:t>
            </a:r>
          </a:p>
          <a:p>
            <a:endParaRPr lang="en-IN" dirty="0"/>
          </a:p>
        </p:txBody>
      </p:sp>
    </p:spTree>
    <p:extLst>
      <p:ext uri="{BB962C8B-B14F-4D97-AF65-F5344CB8AC3E}">
        <p14:creationId xmlns:p14="http://schemas.microsoft.com/office/powerpoint/2010/main" val="3223930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81C83-7E60-8A5D-4361-27A60FBF3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C237F-33ED-136D-8C37-CDEC65173F98}"/>
              </a:ext>
            </a:extLst>
          </p:cNvPr>
          <p:cNvSpPr>
            <a:spLocks noGrp="1"/>
          </p:cNvSpPr>
          <p:nvPr>
            <p:ph type="title"/>
          </p:nvPr>
        </p:nvSpPr>
        <p:spPr>
          <a:xfrm>
            <a:off x="996696" y="93390"/>
            <a:ext cx="10058400" cy="1450757"/>
          </a:xfrm>
        </p:spPr>
        <p:txBody>
          <a:bodyPr/>
          <a:lstStyle/>
          <a:p>
            <a:pPr algn="ctr"/>
            <a:r>
              <a:rPr lang="en-IN" sz="4000" b="1" dirty="0"/>
              <a:t> </a:t>
            </a:r>
            <a:r>
              <a:rPr lang="en-IN" sz="4000" b="1" dirty="0">
                <a:latin typeface="Times New Roman" panose="02020603050405020304" pitchFamily="18" charset="0"/>
                <a:cs typeface="Times New Roman" panose="02020603050405020304" pitchFamily="18" charset="0"/>
              </a:rPr>
              <a:t>MODULAR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895739-326D-A713-72A1-AE2001173705}"/>
              </a:ext>
            </a:extLst>
          </p:cNvPr>
          <p:cNvSpPr>
            <a:spLocks noGrp="1"/>
          </p:cNvSpPr>
          <p:nvPr>
            <p:ph idx="1"/>
          </p:nvPr>
        </p:nvSpPr>
        <p:spPr>
          <a:xfrm>
            <a:off x="996696" y="1853946"/>
            <a:ext cx="10818496" cy="4048125"/>
          </a:xfrm>
        </p:spPr>
        <p:txBody>
          <a:bodyPr>
            <a:normAutofit fontScale="25000" lnSpcReduction="20000"/>
          </a:bodyPr>
          <a:lstStyle/>
          <a:p>
            <a:r>
              <a:rPr lang="en-US" sz="6000" b="1" dirty="0">
                <a:latin typeface="Times New Roman" panose="02020603050405020304" pitchFamily="18" charset="0"/>
                <a:ea typeface="Tahoma" panose="020B0604030504040204" pitchFamily="34" charset="0"/>
                <a:cs typeface="Times New Roman" panose="02020603050405020304" pitchFamily="18" charset="0"/>
              </a:rPr>
              <a:t>3 </a:t>
            </a:r>
            <a:r>
              <a:rPr lang="en-US" sz="4800" b="1" dirty="0">
                <a:latin typeface="Times New Roman" panose="02020603050405020304" pitchFamily="18" charset="0"/>
                <a:ea typeface="Tahoma" panose="020B0604030504040204" pitchFamily="34" charset="0"/>
                <a:cs typeface="Times New Roman" panose="02020603050405020304" pitchFamily="18" charset="0"/>
              </a:rPr>
              <a:t> </a:t>
            </a:r>
            <a:r>
              <a:rPr lang="en-US" sz="6000" b="1" dirty="0">
                <a:latin typeface="Times New Roman" panose="02020603050405020304" pitchFamily="18" charset="0"/>
                <a:cs typeface="Times New Roman" panose="02020603050405020304" pitchFamily="18" charset="0"/>
              </a:rPr>
              <a:t>Dosage Recommendation Module (Demographic-based)</a:t>
            </a:r>
          </a:p>
          <a:p>
            <a:r>
              <a:rPr lang="en-US" sz="7200" dirty="0">
                <a:latin typeface="Times New Roman" panose="02020603050405020304" pitchFamily="18" charset="0"/>
                <a:cs typeface="Times New Roman" panose="02020603050405020304" pitchFamily="18" charset="0"/>
              </a:rPr>
              <a:t>The Dosage Recommendation Module personalizes treatment by calculating safe and effective medication dosages based on patient demographics.</a:t>
            </a:r>
          </a:p>
          <a:p>
            <a:pPr>
              <a:lnSpc>
                <a:spcPct val="150000"/>
              </a:lnSpc>
              <a:buFont typeface="Arial" panose="020B0604020202020204" pitchFamily="34" charset="0"/>
              <a:buChar char="•"/>
            </a:pPr>
            <a:r>
              <a:rPr lang="en-US" sz="7200" dirty="0">
                <a:latin typeface="Times New Roman" panose="02020603050405020304" pitchFamily="18" charset="0"/>
                <a:cs typeface="Times New Roman" panose="02020603050405020304" pitchFamily="18" charset="0"/>
              </a:rPr>
              <a:t>Recommends drug dosage based on age, weight, gender, and medical condition.</a:t>
            </a:r>
          </a:p>
          <a:p>
            <a:pPr>
              <a:lnSpc>
                <a:spcPct val="150000"/>
              </a:lnSpc>
              <a:buFont typeface="Arial" panose="020B0604020202020204" pitchFamily="34" charset="0"/>
              <a:buChar char="•"/>
            </a:pPr>
            <a:r>
              <a:rPr lang="en-US" sz="7200" dirty="0">
                <a:latin typeface="Times New Roman" panose="02020603050405020304" pitchFamily="18" charset="0"/>
                <a:cs typeface="Times New Roman" panose="02020603050405020304" pitchFamily="18" charset="0"/>
              </a:rPr>
              <a:t>Adjusts dosage for children, adults, and elderly patients.</a:t>
            </a:r>
          </a:p>
          <a:p>
            <a:pPr>
              <a:lnSpc>
                <a:spcPct val="150000"/>
              </a:lnSpc>
              <a:buFont typeface="Arial" panose="020B0604020202020204" pitchFamily="34" charset="0"/>
              <a:buChar char="•"/>
            </a:pPr>
            <a:r>
              <a:rPr lang="en-US" sz="7200" dirty="0">
                <a:latin typeface="Times New Roman" panose="02020603050405020304" pitchFamily="18" charset="0"/>
                <a:cs typeface="Times New Roman" panose="02020603050405020304" pitchFamily="18" charset="0"/>
              </a:rPr>
              <a:t>Prevents over-dosage and under-dosage through rule-based validation.</a:t>
            </a:r>
          </a:p>
          <a:p>
            <a:pPr>
              <a:lnSpc>
                <a:spcPct val="150000"/>
              </a:lnSpc>
              <a:buFont typeface="Arial" panose="020B0604020202020204" pitchFamily="34" charset="0"/>
              <a:buChar char="•"/>
            </a:pPr>
            <a:r>
              <a:rPr lang="en-US" sz="7200" dirty="0">
                <a:latin typeface="Times New Roman" panose="02020603050405020304" pitchFamily="18" charset="0"/>
                <a:cs typeface="Times New Roman" panose="02020603050405020304" pitchFamily="18" charset="0"/>
              </a:rPr>
              <a:t>Follows standard clinical dosage guidelines used in primary healthcare.</a:t>
            </a:r>
          </a:p>
          <a:p>
            <a:pPr>
              <a:lnSpc>
                <a:spcPct val="150000"/>
              </a:lnSpc>
              <a:buFont typeface="Arial" panose="020B0604020202020204" pitchFamily="34" charset="0"/>
              <a:buChar char="•"/>
            </a:pPr>
            <a:r>
              <a:rPr lang="en-US" sz="7200" dirty="0">
                <a:latin typeface="Times New Roman" panose="02020603050405020304" pitchFamily="18" charset="0"/>
                <a:cs typeface="Times New Roman" panose="02020603050405020304" pitchFamily="18" charset="0"/>
              </a:rPr>
              <a:t>Supports healthcare workers with limited pharmacological knowledge.</a:t>
            </a:r>
          </a:p>
          <a:p>
            <a:pPr>
              <a:lnSpc>
                <a:spcPct val="150000"/>
              </a:lnSpc>
              <a:buFont typeface="Arial" panose="020B0604020202020204" pitchFamily="34" charset="0"/>
              <a:buChar char="•"/>
            </a:pPr>
            <a:r>
              <a:rPr lang="en-US" sz="7200" dirty="0">
                <a:latin typeface="Times New Roman" panose="02020603050405020304" pitchFamily="18" charset="0"/>
                <a:cs typeface="Times New Roman" panose="02020603050405020304" pitchFamily="18" charset="0"/>
              </a:rPr>
              <a:t>Enhances patient safety and treatment effectiveness.</a:t>
            </a:r>
          </a:p>
          <a:p>
            <a:endParaRPr lang="en-IN" dirty="0"/>
          </a:p>
        </p:txBody>
      </p:sp>
    </p:spTree>
    <p:extLst>
      <p:ext uri="{BB962C8B-B14F-4D97-AF65-F5344CB8AC3E}">
        <p14:creationId xmlns:p14="http://schemas.microsoft.com/office/powerpoint/2010/main" val="2899035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F1F13-642F-759B-089A-C64823B8E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041F9-0924-534B-FA9D-110026479A45}"/>
              </a:ext>
            </a:extLst>
          </p:cNvPr>
          <p:cNvSpPr>
            <a:spLocks noGrp="1"/>
          </p:cNvSpPr>
          <p:nvPr>
            <p:ph type="title"/>
          </p:nvPr>
        </p:nvSpPr>
        <p:spPr>
          <a:xfrm>
            <a:off x="996696" y="93390"/>
            <a:ext cx="10058400" cy="1450757"/>
          </a:xfrm>
        </p:spPr>
        <p:txBody>
          <a:bodyPr/>
          <a:lstStyle/>
          <a:p>
            <a:r>
              <a:rPr lang="en-US" sz="4000" b="1" dirty="0">
                <a:latin typeface="Times New Roman" panose="02020603050405020304" pitchFamily="18" charset="0"/>
                <a:cs typeface="Times New Roman" panose="02020603050405020304" pitchFamily="18" charset="0"/>
              </a:rPr>
              <a:t>DEPLOYMENT -VERCEL</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20AE82-D5FB-1576-3F4D-F9B3AF9049A6}"/>
              </a:ext>
            </a:extLst>
          </p:cNvPr>
          <p:cNvSpPr>
            <a:spLocks noGrp="1"/>
          </p:cNvSpPr>
          <p:nvPr>
            <p:ph idx="1"/>
          </p:nvPr>
        </p:nvSpPr>
        <p:spPr>
          <a:xfrm>
            <a:off x="996696" y="1881378"/>
            <a:ext cx="10818496" cy="4048125"/>
          </a:xfrm>
        </p:spPr>
        <p:txBody>
          <a:bodyPr>
            <a:normAutofit/>
          </a:bodyPr>
          <a:lstStyle/>
          <a:p>
            <a:r>
              <a:rPr lang="en-IN" u="sng" dirty="0">
                <a:hlinkClick r:id="rId3"/>
              </a:rPr>
              <a:t>https://pulsenetai.vercel.app/</a:t>
            </a:r>
            <a:endParaRPr lang="en-IN" dirty="0"/>
          </a:p>
        </p:txBody>
      </p:sp>
    </p:spTree>
    <p:extLst>
      <p:ext uri="{BB962C8B-B14F-4D97-AF65-F5344CB8AC3E}">
        <p14:creationId xmlns:p14="http://schemas.microsoft.com/office/powerpoint/2010/main" val="1781685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502C-CCFC-83B0-93A9-9338C37DC393}"/>
              </a:ext>
            </a:extLst>
          </p:cNvPr>
          <p:cNvSpPr>
            <a:spLocks noGrp="1"/>
          </p:cNvSpPr>
          <p:nvPr>
            <p:ph type="title"/>
          </p:nvPr>
        </p:nvSpPr>
        <p:spPr>
          <a:xfrm>
            <a:off x="886968" y="182880"/>
            <a:ext cx="10058400" cy="1450757"/>
          </a:xfrm>
        </p:spPr>
        <p:txBody>
          <a:bodyPr/>
          <a:lstStyle/>
          <a:p>
            <a:r>
              <a:rPr lang="en-IN" b="1" dirty="0">
                <a:latin typeface="Times New Roman" panose="02020603050405020304" pitchFamily="18" charset="0"/>
                <a:cs typeface="Times New Roman" panose="02020603050405020304" pitchFamily="18" charset="0"/>
              </a:rPr>
              <a:t>                           CONCLUSION</a:t>
            </a:r>
          </a:p>
        </p:txBody>
      </p:sp>
      <p:sp>
        <p:nvSpPr>
          <p:cNvPr id="4" name="Rectangle 1">
            <a:extLst>
              <a:ext uri="{FF2B5EF4-FFF2-40B4-BE49-F238E27FC236}">
                <a16:creationId xmlns:a16="http://schemas.microsoft.com/office/drawing/2014/main" id="{AD53681C-92D3-8EBD-2EF9-3C46D305529A}"/>
              </a:ext>
            </a:extLst>
          </p:cNvPr>
          <p:cNvSpPr>
            <a:spLocks noGrp="1" noChangeArrowheads="1"/>
          </p:cNvSpPr>
          <p:nvPr>
            <p:ph idx="1"/>
          </p:nvPr>
        </p:nvSpPr>
        <p:spPr bwMode="auto">
          <a:xfrm>
            <a:off x="1097280" y="2305366"/>
            <a:ext cx="10531503"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err="1">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PulseNet</a:t>
            </a:r>
            <a:r>
              <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provides an AI-powered medical diagnosis assistant tailored for rural healthcare.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Supports multilingual input and delivers easy-to-understand diagnosis for both patients and healthcare workers.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Combines Gemini AI with rule-based safety checks to ensure accurate, safe, and explainable results.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Provides personalized treatment guidance, drug interaction alerts, and demographic-based dosage recommendations.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Enhances rural healthcare efficiency, reduces dependency on specialists, and improves patient outcomes.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Modular architecture ensures scalability and future enhancements, like voice input and wearable device integration.</a:t>
            </a:r>
          </a:p>
        </p:txBody>
      </p:sp>
    </p:spTree>
    <p:extLst>
      <p:ext uri="{BB962C8B-B14F-4D97-AF65-F5344CB8AC3E}">
        <p14:creationId xmlns:p14="http://schemas.microsoft.com/office/powerpoint/2010/main" val="3709870170"/>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{09FE7285-1B71-4FFF-97BF-A3B0487FEBDE}tf11437505_win32</Template>
  <TotalTime>91</TotalTime>
  <Words>686</Words>
  <Application>Microsoft Office PowerPoint</Application>
  <PresentationFormat>Widescreen</PresentationFormat>
  <Paragraphs>59</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Georgia Pro Cond Light</vt:lpstr>
      <vt:lpstr>Speak Pro</vt:lpstr>
      <vt:lpstr>Times New Roman</vt:lpstr>
      <vt:lpstr>Wingdings</vt:lpstr>
      <vt:lpstr>RetrospectVTI</vt:lpstr>
      <vt:lpstr>PulseNet – AI Medical Diagnosis Assistant</vt:lpstr>
      <vt:lpstr>                        PROBLEM STATEMENT</vt:lpstr>
      <vt:lpstr>                           OUR SOLUTION</vt:lpstr>
      <vt:lpstr>           SYSTEM ARCHITECTURE</vt:lpstr>
      <vt:lpstr>                           TECH STACK</vt:lpstr>
      <vt:lpstr>            PROPOSED METHODOLOGY</vt:lpstr>
      <vt:lpstr>                 MODULAR DESCRIPTION</vt:lpstr>
      <vt:lpstr> MODULAR DESCRIPTION</vt:lpstr>
      <vt:lpstr> MODULAR DESCRIPTION</vt:lpstr>
      <vt:lpstr>DEPLOYMENT -VERCEL</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S</dc:creator>
  <cp:lastModifiedBy>Nithin R</cp:lastModifiedBy>
  <cp:revision>4</cp:revision>
  <dcterms:created xsi:type="dcterms:W3CDTF">2025-12-27T10:41:29Z</dcterms:created>
  <dcterms:modified xsi:type="dcterms:W3CDTF">2025-12-27T12:17:55Z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